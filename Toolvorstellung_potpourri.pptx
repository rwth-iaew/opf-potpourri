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5"/>
  </p:notesMasterIdLst>
  <p:handoutMasterIdLst>
    <p:handoutMasterId r:id="rId6"/>
  </p:handoutMasterIdLst>
  <p:sldIdLst>
    <p:sldId id="258" r:id="rId2"/>
    <p:sldId id="2141412366" r:id="rId3"/>
    <p:sldId id="2141412367" r:id="rId4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D"/>
    <a:srgbClr val="FFFFFF"/>
    <a:srgbClr val="E30065"/>
    <a:srgbClr val="FFEE00"/>
    <a:srgbClr val="B6C401"/>
    <a:srgbClr val="FFC000"/>
    <a:srgbClr val="F1B7A3"/>
    <a:srgbClr val="00549F"/>
    <a:srgbClr val="CC07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Designformatvorlage 2 - Akz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214" autoAdjust="0"/>
  </p:normalViewPr>
  <p:slideViewPr>
    <p:cSldViewPr snapToGrid="0">
      <p:cViewPr varScale="1">
        <p:scale>
          <a:sx n="159" d="100"/>
          <a:sy n="159" d="100"/>
        </p:scale>
        <p:origin x="2220" y="13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6288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5BC57151-A14F-4209-9F77-F6678AFA4A9F}" type="datetimeFigureOut">
              <a:rPr lang="de-DE" altLang="de-DE"/>
              <a:pPr/>
              <a:t>27.11.2023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51882550-64AB-40B7-97E1-93FC9AC5915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50C83F2-0196-47DE-B5DE-81288B61AFA9}" type="datetimeFigureOut">
              <a:rPr lang="de-DE" altLang="de-DE"/>
              <a:pPr/>
              <a:t>27.11.2023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54B70B4F-3B79-4FDF-B3C2-81CE213FD721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Rogows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43280"/>
            <a:ext cx="3521297" cy="8136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 bwMode="gray">
          <a:xfrm>
            <a:off x="300507" y="5796233"/>
            <a:ext cx="1150937" cy="2586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Name</a:t>
            </a: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:</a:t>
            </a:r>
          </a:p>
        </p:txBody>
      </p:sp>
      <p:sp>
        <p:nvSpPr>
          <p:cNvPr id="9" name="Textfeld 8"/>
          <p:cNvSpPr txBox="1"/>
          <p:nvPr userDrawn="1"/>
        </p:nvSpPr>
        <p:spPr bwMode="gray">
          <a:xfrm>
            <a:off x="300507" y="6081794"/>
            <a:ext cx="1150937" cy="25200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Betreuer:</a:t>
            </a:r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438745" y="6081793"/>
            <a:ext cx="3531552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1. Betreuer</a:t>
            </a:r>
          </a:p>
        </p:txBody>
      </p:sp>
      <p:sp>
        <p:nvSpPr>
          <p:cNvPr id="16" name="Textplatzhalter 6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438019" y="6333793"/>
            <a:ext cx="3532278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2. Betreuer</a:t>
            </a:r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438019" y="5814772"/>
            <a:ext cx="8066087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durch klicken hinzufügen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23232"/>
          </a:xfrm>
          <a:prstGeom prst="rect">
            <a:avLst/>
          </a:prstGeom>
        </p:spPr>
      </p:pic>
      <p:sp>
        <p:nvSpPr>
          <p:cNvPr id="13" name="Textfeld 12"/>
          <p:cNvSpPr txBox="1"/>
          <p:nvPr userDrawn="1"/>
        </p:nvSpPr>
        <p:spPr>
          <a:xfrm rot="16200000">
            <a:off x="11520467" y="3843926"/>
            <a:ext cx="1186657" cy="228600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/>
          <a:p>
            <a:pPr marL="0" indent="0" algn="l">
              <a:lnSpc>
                <a:spcPct val="114000"/>
              </a:lnSpc>
              <a:spcBef>
                <a:spcPts val="1200"/>
              </a:spcBef>
              <a:spcAft>
                <a:spcPts val="54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de-DE" sz="700" dirty="0">
                <a:solidFill>
                  <a:schemeClr val="bg1">
                    <a:lumMod val="75000"/>
                  </a:schemeClr>
                </a:solidFill>
              </a:rPr>
              <a:t>Foto: Martin Braun</a:t>
            </a:r>
          </a:p>
        </p:txBody>
      </p:sp>
    </p:spTree>
    <p:extLst>
      <p:ext uri="{BB962C8B-B14F-4D97-AF65-F5344CB8AC3E}">
        <p14:creationId xmlns:p14="http://schemas.microsoft.com/office/powerpoint/2010/main" val="50708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Hü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43280"/>
            <a:ext cx="3521297" cy="8136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 bwMode="gray">
          <a:xfrm>
            <a:off x="300507" y="5796233"/>
            <a:ext cx="1150937" cy="2586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Name</a:t>
            </a: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:</a:t>
            </a:r>
          </a:p>
        </p:txBody>
      </p:sp>
      <p:sp>
        <p:nvSpPr>
          <p:cNvPr id="9" name="Textfeld 8"/>
          <p:cNvSpPr txBox="1"/>
          <p:nvPr userDrawn="1"/>
        </p:nvSpPr>
        <p:spPr bwMode="gray">
          <a:xfrm>
            <a:off x="300507" y="6081794"/>
            <a:ext cx="1150937" cy="25200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Betreuer:</a:t>
            </a:r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438745" y="6081793"/>
            <a:ext cx="3531552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1. Betreuer</a:t>
            </a:r>
          </a:p>
        </p:txBody>
      </p:sp>
      <p:sp>
        <p:nvSpPr>
          <p:cNvPr id="16" name="Textplatzhalter 6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438019" y="6333793"/>
            <a:ext cx="3532278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2. Betreuer</a:t>
            </a:r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438019" y="5814772"/>
            <a:ext cx="8066087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durch klicken hinzufügen</a:t>
            </a:r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0" b="9457"/>
          <a:stretch/>
        </p:blipFill>
        <p:spPr>
          <a:xfrm>
            <a:off x="0" y="-12032"/>
            <a:ext cx="12192000" cy="4549565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 rot="16200000">
            <a:off x="11594511" y="3957424"/>
            <a:ext cx="991778" cy="228600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/>
          <a:p>
            <a:pPr marL="0" indent="0" algn="l">
              <a:lnSpc>
                <a:spcPct val="114000"/>
              </a:lnSpc>
              <a:spcBef>
                <a:spcPts val="1200"/>
              </a:spcBef>
              <a:spcAft>
                <a:spcPts val="54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de-DE" sz="700" dirty="0">
                <a:solidFill>
                  <a:schemeClr val="bg1">
                    <a:lumMod val="95000"/>
                  </a:schemeClr>
                </a:solidFill>
              </a:rPr>
              <a:t>Foto: Martin Braun</a:t>
            </a:r>
          </a:p>
        </p:txBody>
      </p:sp>
    </p:spTree>
    <p:extLst>
      <p:ext uri="{BB962C8B-B14F-4D97-AF65-F5344CB8AC3E}">
        <p14:creationId xmlns:p14="http://schemas.microsoft.com/office/powerpoint/2010/main" val="40731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chinkelstraß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43280"/>
            <a:ext cx="3521297" cy="8136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 bwMode="gray">
          <a:xfrm>
            <a:off x="300507" y="5796233"/>
            <a:ext cx="1150937" cy="2586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Name</a:t>
            </a: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:</a:t>
            </a:r>
          </a:p>
        </p:txBody>
      </p:sp>
      <p:sp>
        <p:nvSpPr>
          <p:cNvPr id="9" name="Textfeld 8"/>
          <p:cNvSpPr txBox="1"/>
          <p:nvPr userDrawn="1"/>
        </p:nvSpPr>
        <p:spPr bwMode="gray">
          <a:xfrm>
            <a:off x="300507" y="6081794"/>
            <a:ext cx="1150937" cy="25200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Betreuer:</a:t>
            </a:r>
          </a:p>
        </p:txBody>
      </p:sp>
      <p:sp>
        <p:nvSpPr>
          <p:cNvPr id="15" name="Textplatzhalter 6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438745" y="6081793"/>
            <a:ext cx="3531552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1. Betreuer</a:t>
            </a:r>
          </a:p>
        </p:txBody>
      </p:sp>
      <p:sp>
        <p:nvSpPr>
          <p:cNvPr id="16" name="Textplatzhalter 6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438019" y="6333793"/>
            <a:ext cx="3532278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2. Betreuer</a:t>
            </a:r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438019" y="5814772"/>
            <a:ext cx="8066087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durch klicken hinzufügen</a:t>
            </a:r>
          </a:p>
        </p:txBody>
      </p:sp>
      <p:sp>
        <p:nvSpPr>
          <p:cNvPr id="11" name="Textfeld 10"/>
          <p:cNvSpPr txBox="1"/>
          <p:nvPr userDrawn="1"/>
        </p:nvSpPr>
        <p:spPr>
          <a:xfrm>
            <a:off x="11340847" y="4394746"/>
            <a:ext cx="1186657" cy="228600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/>
          <a:p>
            <a:pPr marL="0" indent="0" algn="l">
              <a:lnSpc>
                <a:spcPct val="114000"/>
              </a:lnSpc>
              <a:spcBef>
                <a:spcPts val="1200"/>
              </a:spcBef>
              <a:spcAft>
                <a:spcPts val="54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de-DE" sz="700" dirty="0">
                <a:solidFill>
                  <a:schemeClr val="bg1"/>
                </a:solidFill>
              </a:rPr>
              <a:t>Foto: Martin Braun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84" r="1025" b="2870"/>
          <a:stretch/>
        </p:blipFill>
        <p:spPr>
          <a:xfrm>
            <a:off x="0" y="0"/>
            <a:ext cx="12194006" cy="453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8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neutr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</a:pPr>
            <a:r>
              <a:rPr lang="de-DE" altLang="de-DE" sz="1000"/>
              <a:t>Skalieren auf</a:t>
            </a:r>
          </a:p>
          <a:p>
            <a:pPr eaLnBrk="1" hangingPunct="1"/>
            <a:r>
              <a:rPr lang="de-DE" altLang="de-DE" sz="1000"/>
              <a:t>     Höhe: 2,26 cm</a:t>
            </a:r>
          </a:p>
          <a:p>
            <a:pPr eaLnBrk="1" hangingPunct="1"/>
            <a:r>
              <a:rPr lang="de-DE" altLang="de-DE" sz="1000"/>
              <a:t>     (Breite variiert je nach   </a:t>
            </a:r>
          </a:p>
          <a:p>
            <a:pPr eaLnBrk="1" hangingPunct="1"/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43280"/>
            <a:ext cx="3521297" cy="8136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 bwMode="gray">
          <a:xfrm>
            <a:off x="300507" y="5796233"/>
            <a:ext cx="1150937" cy="2586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Name</a:t>
            </a:r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:</a:t>
            </a:r>
          </a:p>
        </p:txBody>
      </p:sp>
      <p:sp>
        <p:nvSpPr>
          <p:cNvPr id="10" name="Textfeld 9"/>
          <p:cNvSpPr txBox="1"/>
          <p:nvPr userDrawn="1"/>
        </p:nvSpPr>
        <p:spPr bwMode="gray">
          <a:xfrm>
            <a:off x="300507" y="6081794"/>
            <a:ext cx="1150937" cy="25200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de-DE" sz="12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Supervisor:</a:t>
            </a:r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438745" y="6081793"/>
            <a:ext cx="3531552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1. Betreuer</a:t>
            </a:r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438019" y="6333793"/>
            <a:ext cx="3532278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0" dirty="0">
                <a:solidFill>
                  <a:schemeClr val="bg1">
                    <a:lumMod val="6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2. Betreuer</a:t>
            </a:r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438019" y="5814772"/>
            <a:ext cx="8066087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66700" indent="-266700">
              <a:buNone/>
              <a:def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 dirty="0"/>
              <a:t>Name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159014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neutr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6043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</a:pPr>
            <a:r>
              <a:rPr lang="de-DE" altLang="de-DE" sz="1000"/>
              <a:t>Skalieren auf</a:t>
            </a:r>
          </a:p>
          <a:p>
            <a:pPr eaLnBrk="1" hangingPunct="1"/>
            <a:r>
              <a:rPr lang="de-DE" altLang="de-DE" sz="1000"/>
              <a:t>     Höhe: 2,26 cm</a:t>
            </a:r>
          </a:p>
          <a:p>
            <a:pPr eaLnBrk="1" hangingPunct="1"/>
            <a:r>
              <a:rPr lang="de-DE" altLang="de-DE" sz="1000"/>
              <a:t>     (Breite variiert je nach   </a:t>
            </a:r>
          </a:p>
          <a:p>
            <a:pPr eaLnBrk="1" hangingPunct="1"/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43280"/>
            <a:ext cx="3521297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6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Agenda</a:t>
            </a:r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3B7EDB6-869E-5DF2-CA82-4F6581E7CA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674" y="1220517"/>
            <a:ext cx="9825038" cy="2659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Einleitung</a:t>
            </a:r>
          </a:p>
          <a:p>
            <a:pPr lvl="0"/>
            <a:r>
              <a:rPr lang="de-DE" dirty="0"/>
              <a:t>Grundlage</a:t>
            </a:r>
          </a:p>
          <a:p>
            <a:pPr lvl="0"/>
            <a:r>
              <a:rPr lang="de-DE" dirty="0"/>
              <a:t>Modellierung</a:t>
            </a:r>
          </a:p>
          <a:p>
            <a:pPr lvl="0"/>
            <a:r>
              <a:rPr lang="de-DE" dirty="0"/>
              <a:t>Ergebnisse</a:t>
            </a:r>
          </a:p>
          <a:p>
            <a:pPr lvl="0"/>
            <a:r>
              <a:rPr lang="de-DE" dirty="0"/>
              <a:t>Zusammenfassung und Ausblick</a:t>
            </a:r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337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2 Tit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29771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durch Klicken bearbeiten</a:t>
            </a:r>
            <a:endParaRPr lang="en-US" dirty="0"/>
          </a:p>
        </p:txBody>
      </p:sp>
      <p:sp>
        <p:nvSpPr>
          <p:cNvPr id="5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383117" y="513331"/>
            <a:ext cx="5579643" cy="272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lang="de-DE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/>
            <a:r>
              <a:rPr lang="de-DE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382588" y="1052513"/>
            <a:ext cx="11474450" cy="4986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1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84175" y="1052513"/>
            <a:ext cx="11472863" cy="4986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8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384175" y="1052513"/>
            <a:ext cx="5549899" cy="4986337"/>
          </a:xfrm>
        </p:spPr>
        <p:txBody>
          <a:bodyPr/>
          <a:lstStyle>
            <a:lvl5pPr marL="792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6257925" y="1052512"/>
            <a:ext cx="5549901" cy="49863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7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07981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Überschrift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384175" y="1412875"/>
            <a:ext cx="11472863" cy="46259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6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hne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384175" y="1079811"/>
            <a:ext cx="11472863" cy="495904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13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mit Überschrift und Quellenverw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07981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Überschrift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384175" y="1412875"/>
            <a:ext cx="11472863" cy="408717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B6897A52-A87D-CC8C-0D41-8E8691DB76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98" y="5643807"/>
            <a:ext cx="11472862" cy="380275"/>
          </a:xfrm>
        </p:spPr>
        <p:txBody>
          <a:bodyPr anchor="b"/>
          <a:lstStyle>
            <a:lvl1pPr marL="0" indent="0">
              <a:buNone/>
              <a:defRPr sz="1050"/>
            </a:lvl1pPr>
          </a:lstStyle>
          <a:p>
            <a:r>
              <a:rPr lang="de-DE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3181322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384175" y="1412875"/>
            <a:ext cx="5549899" cy="46259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2"/>
          </p:nvPr>
        </p:nvSpPr>
        <p:spPr>
          <a:xfrm>
            <a:off x="6257925" y="1412875"/>
            <a:ext cx="5549901" cy="46259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079810"/>
            <a:ext cx="555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Überschrift bearbeiten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56626" y="1079810"/>
            <a:ext cx="555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Überschrift bearbeiten</a:t>
            </a:r>
          </a:p>
        </p:txBody>
      </p:sp>
    </p:spTree>
    <p:extLst>
      <p:ext uri="{BB962C8B-B14F-4D97-AF65-F5344CB8AC3E}">
        <p14:creationId xmlns:p14="http://schemas.microsoft.com/office/powerpoint/2010/main" val="729195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de-DE" altLang="de-DE" sz="900" dirty="0">
                <a:solidFill>
                  <a:schemeClr val="tx2"/>
                </a:solidFill>
              </a:rPr>
              <a:t>Vorname Nachname</a:t>
            </a:r>
          </a:p>
        </p:txBody>
      </p:sp>
      <p:cxnSp>
        <p:nvCxnSpPr>
          <p:cNvPr id="8" name="Gerader Verbinder 7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4A28B4C-7DD0-4A3A-B049-87ABF3414846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37264"/>
            <a:ext cx="3521297" cy="813600"/>
          </a:xfrm>
          <a:prstGeom prst="rect">
            <a:avLst/>
          </a:prstGeom>
        </p:spPr>
      </p:pic>
      <p:sp>
        <p:nvSpPr>
          <p:cNvPr id="1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07981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Überschrift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8" name="Bildplatzhalter 9"/>
          <p:cNvSpPr>
            <a:spLocks noGrp="1"/>
          </p:cNvSpPr>
          <p:nvPr>
            <p:ph type="pic" sz="quarter" idx="14"/>
          </p:nvPr>
        </p:nvSpPr>
        <p:spPr>
          <a:xfrm>
            <a:off x="8197850" y="1404938"/>
            <a:ext cx="3646488" cy="4230687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384175" y="1412875"/>
            <a:ext cx="7454900" cy="462597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159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24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/>
            </a:lvl1pPr>
          </a:lstStyle>
          <a:p>
            <a:pPr lvl="0"/>
            <a:r>
              <a:rPr lang="de-DE" noProof="0"/>
              <a:t>Diagramm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07981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Überschrift bearbeiten</a:t>
            </a:r>
          </a:p>
        </p:txBody>
      </p:sp>
    </p:spTree>
    <p:extLst>
      <p:ext uri="{BB962C8B-B14F-4D97-AF65-F5344CB8AC3E}">
        <p14:creationId xmlns:p14="http://schemas.microsoft.com/office/powerpoint/2010/main" val="423769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Ihre Aufmerksamkeit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37264"/>
            <a:ext cx="3521297" cy="813600"/>
          </a:xfrm>
          <a:prstGeom prst="rect">
            <a:avLst/>
          </a:prstGeom>
        </p:spPr>
      </p:pic>
      <p:sp>
        <p:nvSpPr>
          <p:cNvPr id="7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52011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altLang="de-DE" sz="3200" b="1" dirty="0" err="1">
                <a:solidFill>
                  <a:schemeClr val="tx2"/>
                </a:solidFill>
              </a:rPr>
              <a:t>Thank</a:t>
            </a:r>
            <a:r>
              <a:rPr lang="de-DE" altLang="de-DE" sz="3200" b="1" dirty="0">
                <a:solidFill>
                  <a:schemeClr val="tx2"/>
                </a:solidFill>
              </a:rPr>
              <a:t> </a:t>
            </a:r>
            <a:r>
              <a:rPr lang="de-DE" altLang="de-DE" sz="3200" b="1" dirty="0" err="1">
                <a:solidFill>
                  <a:schemeClr val="tx2"/>
                </a:solidFill>
              </a:rPr>
              <a:t>you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 err="1">
                <a:solidFill>
                  <a:schemeClr val="tx2"/>
                </a:solidFill>
              </a:rPr>
              <a:t>for</a:t>
            </a:r>
            <a:r>
              <a:rPr lang="de-DE" altLang="de-DE" sz="3200" b="1" dirty="0">
                <a:solidFill>
                  <a:schemeClr val="tx2"/>
                </a:solidFill>
              </a:rPr>
              <a:t> </a:t>
            </a:r>
            <a:r>
              <a:rPr lang="de-DE" altLang="de-DE" sz="3200" b="1" dirty="0" err="1">
                <a:solidFill>
                  <a:schemeClr val="tx2"/>
                </a:solidFill>
              </a:rPr>
              <a:t>your</a:t>
            </a:r>
            <a:r>
              <a:rPr lang="de-DE" altLang="de-DE" sz="3200" b="1" dirty="0">
                <a:solidFill>
                  <a:schemeClr val="tx2"/>
                </a:solidFill>
              </a:rPr>
              <a:t> </a:t>
            </a:r>
            <a:r>
              <a:rPr lang="de-DE" altLang="de-DE" sz="3200" b="1" dirty="0" err="1">
                <a:solidFill>
                  <a:schemeClr val="tx2"/>
                </a:solidFill>
              </a:rPr>
              <a:t>attention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37264"/>
            <a:ext cx="3521297" cy="813600"/>
          </a:xfrm>
          <a:prstGeom prst="rect">
            <a:avLst/>
          </a:prstGeom>
        </p:spPr>
      </p:pic>
      <p:sp>
        <p:nvSpPr>
          <p:cNvPr id="7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8741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381582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altLang="de-DE" sz="3200" b="1" dirty="0">
                <a:solidFill>
                  <a:schemeClr val="tx2"/>
                </a:solidFill>
              </a:rPr>
              <a:t>QA &amp; </a:t>
            </a:r>
            <a:r>
              <a:rPr lang="de-DE" altLang="de-DE" sz="3200" b="1" dirty="0" err="1">
                <a:solidFill>
                  <a:schemeClr val="tx2"/>
                </a:solidFill>
              </a:rPr>
              <a:t>Discussion</a:t>
            </a:r>
            <a:r>
              <a:rPr lang="de-DE" altLang="de-DE" sz="3200" b="1" dirty="0">
                <a:solidFill>
                  <a:schemeClr val="tx2"/>
                </a:solidFill>
              </a:rPr>
              <a:t> </a:t>
            </a:r>
            <a:r>
              <a:rPr lang="de-DE" altLang="de-DE" sz="3200" b="1" dirty="0" err="1">
                <a:solidFill>
                  <a:schemeClr val="tx2"/>
                </a:solidFill>
              </a:rPr>
              <a:t>panel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37264"/>
            <a:ext cx="3521297" cy="813600"/>
          </a:xfrm>
          <a:prstGeom prst="rect">
            <a:avLst/>
          </a:prstGeom>
        </p:spPr>
      </p:pic>
      <p:sp>
        <p:nvSpPr>
          <p:cNvPr id="7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429000"/>
            <a:ext cx="11484000" cy="2215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19550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(alternati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de-DE" altLang="de-DE" sz="3200" b="1" dirty="0">
                <a:solidFill>
                  <a:schemeClr val="tx2"/>
                </a:solidFill>
              </a:rPr>
              <a:t>Vielen Dank für Ihre </a:t>
            </a:r>
          </a:p>
          <a:p>
            <a:pPr algn="ctr" eaLnBrk="1" hangingPunct="1">
              <a:lnSpc>
                <a:spcPct val="90000"/>
              </a:lnSpc>
            </a:pPr>
            <a:r>
              <a:rPr lang="de-DE" altLang="de-DE" sz="3200" b="1" dirty="0">
                <a:solidFill>
                  <a:schemeClr val="tx2"/>
                </a:solidFill>
              </a:rPr>
              <a:t>Aufmerksamkeit</a:t>
            </a:r>
            <a:endParaRPr lang="en-US" altLang="de-DE" sz="3200" b="1" dirty="0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37264"/>
            <a:ext cx="3521297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4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de-DE" sz="900" dirty="0">
                <a:solidFill>
                  <a:schemeClr val="tx2"/>
                </a:solidFill>
              </a:rPr>
              <a:t>Presentation </a:t>
            </a:r>
            <a:r>
              <a:rPr lang="de-DE" altLang="de-DE" sz="900" dirty="0">
                <a:solidFill>
                  <a:schemeClr val="tx2"/>
                </a:solidFill>
              </a:rPr>
              <a:t>|  Steffen Kortmann  | 16.04.2023</a:t>
            </a: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8E26321-E5F4-44ED-BD68-A284F3045C4B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‹Nr.›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803" y="6043280"/>
            <a:ext cx="3521297" cy="813600"/>
          </a:xfrm>
          <a:prstGeom prst="rect">
            <a:avLst/>
          </a:prstGeom>
        </p:spPr>
      </p:pic>
      <p:sp>
        <p:nvSpPr>
          <p:cNvPr id="14" name="Titelplatzhalter 3"/>
          <p:cNvSpPr>
            <a:spLocks noGrp="1"/>
          </p:cNvSpPr>
          <p:nvPr>
            <p:ph type="title"/>
          </p:nvPr>
        </p:nvSpPr>
        <p:spPr>
          <a:xfrm>
            <a:off x="384000" y="189568"/>
            <a:ext cx="11484000" cy="5436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Textplatzhalter 4"/>
          <p:cNvSpPr>
            <a:spLocks noGrp="1"/>
          </p:cNvSpPr>
          <p:nvPr>
            <p:ph type="body" idx="1"/>
          </p:nvPr>
        </p:nvSpPr>
        <p:spPr>
          <a:xfrm>
            <a:off x="384000" y="1431758"/>
            <a:ext cx="11473200" cy="421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Formatvorlagen des Textmasters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59" r:id="rId2"/>
    <p:sldLayoutId id="2147483861" r:id="rId3"/>
    <p:sldLayoutId id="2147483854" r:id="rId4"/>
    <p:sldLayoutId id="2147483863" r:id="rId5"/>
    <p:sldLayoutId id="2147483849" r:id="rId6"/>
    <p:sldLayoutId id="2147483850" r:id="rId7"/>
    <p:sldLayoutId id="2147483838" r:id="rId8"/>
    <p:sldLayoutId id="2147483856" r:id="rId9"/>
    <p:sldLayoutId id="2147483839" r:id="rId10"/>
    <p:sldLayoutId id="2147483865" r:id="rId11"/>
    <p:sldLayoutId id="2147483862" r:id="rId12"/>
    <p:sldLayoutId id="2147483857" r:id="rId13"/>
    <p:sldLayoutId id="2147483846" r:id="rId14"/>
    <p:sldLayoutId id="2147483855" r:id="rId15"/>
    <p:sldLayoutId id="2147483840" r:id="rId16"/>
    <p:sldLayoutId id="2147483848" r:id="rId17"/>
    <p:sldLayoutId id="2147483866" r:id="rId18"/>
    <p:sldLayoutId id="2147483864" r:id="rId19"/>
    <p:sldLayoutId id="2147483852" r:id="rId20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000" b="1" kern="1200" dirty="0">
          <a:solidFill>
            <a:schemeClr val="tx2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lnSpc>
          <a:spcPct val="113000"/>
        </a:lnSpc>
        <a:spcBef>
          <a:spcPts val="600"/>
        </a:spcBef>
        <a:spcAft>
          <a:spcPts val="500"/>
        </a:spcAft>
        <a:buClr>
          <a:schemeClr val="tx2"/>
        </a:buClr>
        <a:buFont typeface="Wingdings" panose="05000000000000000000" pitchFamily="2" charset="2"/>
        <a:buChar char="§"/>
        <a:tabLst>
          <a:tab pos="215900" algn="l"/>
        </a:tabLst>
        <a:defRPr lang="de-DE" sz="1600" kern="120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lnSpc>
          <a:spcPct val="113000"/>
        </a:lnSpc>
        <a:spcBef>
          <a:spcPct val="0"/>
        </a:spcBef>
        <a:spcAft>
          <a:spcPts val="400"/>
        </a:spcAft>
        <a:buClr>
          <a:schemeClr val="tx2"/>
        </a:buClr>
        <a:buFont typeface="Wingdings" panose="05000000000000000000" pitchFamily="2" charset="2"/>
        <a:buChar char="§"/>
        <a:tabLst>
          <a:tab pos="431800" algn="l"/>
        </a:tabLst>
        <a:defRPr lang="de-DE" sz="1400" kern="120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lnSpc>
          <a:spcPct val="113000"/>
        </a:lnSpc>
        <a:spcBef>
          <a:spcPct val="0"/>
        </a:spcBef>
        <a:spcAft>
          <a:spcPts val="400"/>
        </a:spcAft>
        <a:buClr>
          <a:schemeClr val="tx2"/>
        </a:buClr>
        <a:buSzPct val="100000"/>
        <a:buFont typeface="Wingdings" panose="05000000000000000000" pitchFamily="2" charset="2"/>
        <a:buChar char="§"/>
        <a:tabLst>
          <a:tab pos="647700" algn="l"/>
        </a:tabLst>
        <a:defRPr lang="de-DE" sz="1400" kern="120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792000" indent="-144000" algn="l" defTabSz="215900" rtl="0" eaLnBrk="1" fontAlgn="base" hangingPunct="1">
        <a:lnSpc>
          <a:spcPct val="113000"/>
        </a:lnSpc>
        <a:spcBef>
          <a:spcPct val="0"/>
        </a:spcBef>
        <a:spcAft>
          <a:spcPts val="400"/>
        </a:spcAft>
        <a:buClr>
          <a:schemeClr val="tx2"/>
        </a:buClr>
        <a:buSzPct val="100000"/>
        <a:buFont typeface="Wingdings" panose="05000000000000000000" pitchFamily="2" charset="2"/>
        <a:buChar char="§"/>
        <a:tabLst>
          <a:tab pos="863600" algn="l"/>
        </a:tabLst>
        <a:defRPr lang="de-DE" sz="1400" kern="1200" dirty="0" smtClean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936000" indent="-144000" algn="l" rtl="0" eaLnBrk="1" fontAlgn="base" hangingPunct="1">
        <a:lnSpc>
          <a:spcPct val="113000"/>
        </a:lnSpc>
        <a:spcBef>
          <a:spcPct val="0"/>
        </a:spcBef>
        <a:spcAft>
          <a:spcPts val="400"/>
        </a:spcAft>
        <a:buClr>
          <a:schemeClr val="tx2"/>
        </a:buClr>
        <a:buFont typeface="Wingdings" panose="05000000000000000000" pitchFamily="2" charset="2"/>
        <a:buChar char="§"/>
        <a:tabLst>
          <a:tab pos="895350" algn="l"/>
        </a:tabLst>
        <a:defRPr lang="en-US" sz="1400" kern="1200" dirty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0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orient="horz" pos="890" userDrawn="1">
          <p15:clr>
            <a:srgbClr val="F26B43"/>
          </p15:clr>
        </p15:guide>
        <p15:guide id="5" pos="7469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  <p15:guide id="7" orient="horz" pos="663" userDrawn="1">
          <p15:clr>
            <a:srgbClr val="F26B43"/>
          </p15:clr>
        </p15:guide>
        <p15:guide id="8" orient="horz" pos="516" userDrawn="1">
          <p15:clr>
            <a:srgbClr val="F26B43"/>
          </p15:clr>
        </p15:guide>
        <p15:guide id="9" pos="5314" userDrawn="1">
          <p15:clr>
            <a:srgbClr val="F26B43"/>
          </p15:clr>
        </p15:guide>
        <p15:guide id="10" orient="horz" pos="459" userDrawn="1">
          <p15:clr>
            <a:srgbClr val="F26B43"/>
          </p15:clr>
        </p15:guide>
        <p15:guide id="11" orient="horz" pos="119" userDrawn="1">
          <p15:clr>
            <a:srgbClr val="F26B43"/>
          </p15:clr>
        </p15:guide>
        <p15:guide id="12" pos="3840" userDrawn="1">
          <p15:clr>
            <a:srgbClr val="F26B43"/>
          </p15:clr>
        </p15:guide>
        <p15:guide id="13" pos="3942" userDrawn="1">
          <p15:clr>
            <a:srgbClr val="F26B43"/>
          </p15:clr>
        </p15:guide>
        <p15:guide id="14" pos="37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iaew.rwth-aachen.de/aev/potpourri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2AD47-66C7-2F75-2693-A00EB5C01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Multi-</a:t>
            </a:r>
            <a:r>
              <a:rPr lang="en-GB" dirty="0">
                <a:solidFill>
                  <a:schemeClr val="accent5"/>
                </a:solidFill>
              </a:rPr>
              <a:t>P</a:t>
            </a:r>
            <a:r>
              <a:rPr lang="en-GB" dirty="0"/>
              <a:t>eriod </a:t>
            </a:r>
            <a:r>
              <a:rPr lang="en-GB" dirty="0">
                <a:solidFill>
                  <a:schemeClr val="accent5"/>
                </a:solidFill>
              </a:rPr>
              <a:t>O</a:t>
            </a:r>
            <a:r>
              <a:rPr lang="en-GB" dirty="0"/>
              <a:t>p</a:t>
            </a:r>
            <a:r>
              <a:rPr lang="en-GB" dirty="0">
                <a:solidFill>
                  <a:schemeClr val="accent5"/>
                </a:solidFill>
              </a:rPr>
              <a:t>t</a:t>
            </a:r>
            <a:r>
              <a:rPr lang="en-GB" dirty="0"/>
              <a:t>imal </a:t>
            </a:r>
            <a:r>
              <a:rPr lang="en-GB" dirty="0">
                <a:solidFill>
                  <a:schemeClr val="accent5"/>
                </a:solidFill>
              </a:rPr>
              <a:t>Po</a:t>
            </a:r>
            <a:r>
              <a:rPr lang="en-GB" dirty="0"/>
              <a:t>wer Flow for Distrib</a:t>
            </a:r>
            <a:r>
              <a:rPr lang="en-GB" dirty="0">
                <a:solidFill>
                  <a:schemeClr val="accent5"/>
                </a:solidFill>
              </a:rPr>
              <a:t>u</a:t>
            </a:r>
            <a:r>
              <a:rPr lang="en-GB" dirty="0"/>
              <a:t>tion G</a:t>
            </a:r>
            <a:r>
              <a:rPr lang="en-GB" dirty="0">
                <a:solidFill>
                  <a:schemeClr val="accent5"/>
                </a:solidFill>
              </a:rPr>
              <a:t>r</a:t>
            </a:r>
            <a:r>
              <a:rPr lang="en-GB" dirty="0"/>
              <a:t>ids with Sto</a:t>
            </a:r>
            <a:r>
              <a:rPr lang="en-GB" dirty="0">
                <a:solidFill>
                  <a:schemeClr val="accent5"/>
                </a:solidFill>
              </a:rPr>
              <a:t>r</a:t>
            </a:r>
            <a:r>
              <a:rPr lang="en-GB" dirty="0"/>
              <a:t>age Appl</a:t>
            </a:r>
            <a:r>
              <a:rPr lang="en-GB" dirty="0">
                <a:solidFill>
                  <a:schemeClr val="accent5"/>
                </a:solidFill>
              </a:rPr>
              <a:t>i</a:t>
            </a:r>
            <a:r>
              <a:rPr lang="en-GB" dirty="0"/>
              <a:t>cation </a:t>
            </a:r>
            <a:r>
              <a:rPr lang="en-GB" b="0" i="1" dirty="0"/>
              <a:t>(potpourri)</a:t>
            </a:r>
          </a:p>
        </p:txBody>
      </p:sp>
    </p:spTree>
    <p:extLst>
      <p:ext uri="{BB962C8B-B14F-4D97-AF65-F5344CB8AC3E}">
        <p14:creationId xmlns:p14="http://schemas.microsoft.com/office/powerpoint/2010/main" val="243010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007057B-892E-8BF8-2496-8DC10C6281AD}"/>
              </a:ext>
            </a:extLst>
          </p:cNvPr>
          <p:cNvSpPr/>
          <p:nvPr/>
        </p:nvSpPr>
        <p:spPr>
          <a:xfrm>
            <a:off x="3654592" y="2887575"/>
            <a:ext cx="2044534" cy="1594183"/>
          </a:xfrm>
          <a:prstGeom prst="roundRect">
            <a:avLst>
              <a:gd name="adj" fmla="val 5584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70810D39-294B-2588-40B9-9E6F88AD976F}"/>
              </a:ext>
            </a:extLst>
          </p:cNvPr>
          <p:cNvSpPr/>
          <p:nvPr/>
        </p:nvSpPr>
        <p:spPr>
          <a:xfrm>
            <a:off x="1480719" y="2887575"/>
            <a:ext cx="2044534" cy="1594183"/>
          </a:xfrm>
          <a:prstGeom prst="roundRect">
            <a:avLst>
              <a:gd name="adj" fmla="val 5584"/>
            </a:avLst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1ECD442-0ECC-D999-2A0F-BD1CD96C8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Multi-Period Optimal Power Flow for Distribution Grids with Storage Application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BF53F4A-7F0A-879D-7A34-AF4D7F75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Toolvorstellung: </a:t>
            </a:r>
            <a:r>
              <a:rPr lang="de-DE" dirty="0" err="1"/>
              <a:t>potpourri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A6844B-53FC-B762-DE3A-452233790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i="1" dirty="0"/>
              <a:t>Potpourri ermöglicht die Leistungsflussberechnung in elektrischen Verteilnetzen</a:t>
            </a:r>
          </a:p>
          <a:p>
            <a:pPr lvl="1"/>
            <a:r>
              <a:rPr lang="de-DE" dirty="0"/>
              <a:t>Möglichkeiten optimalen Lastfluss zu berechnen, aber auch Ausbauheuristik mittels genetischen Algorithmus</a:t>
            </a:r>
          </a:p>
          <a:p>
            <a:endParaRPr lang="de-DE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r>
              <a:rPr lang="de-DE" b="1" dirty="0"/>
              <a:t>Inputdaten:</a:t>
            </a:r>
            <a:r>
              <a:rPr lang="de-DE" dirty="0"/>
              <a:t> </a:t>
            </a:r>
            <a:r>
              <a:rPr lang="de-DE" dirty="0" err="1"/>
              <a:t>pandapower</a:t>
            </a:r>
            <a:r>
              <a:rPr lang="de-DE" dirty="0"/>
              <a:t>-Netzdaten</a:t>
            </a:r>
          </a:p>
          <a:p>
            <a:pPr lvl="1"/>
            <a:r>
              <a:rPr lang="de-DE" dirty="0"/>
              <a:t>Modellierungssprache: </a:t>
            </a:r>
            <a:r>
              <a:rPr lang="de-DE" dirty="0" err="1"/>
              <a:t>Pyomo</a:t>
            </a:r>
            <a:endParaRPr lang="de-DE" dirty="0"/>
          </a:p>
          <a:p>
            <a:pPr lvl="1"/>
            <a:r>
              <a:rPr lang="de-DE" dirty="0"/>
              <a:t>Solver: </a:t>
            </a:r>
            <a:r>
              <a:rPr lang="de-DE" dirty="0" err="1"/>
              <a:t>Gurobi</a:t>
            </a:r>
            <a:r>
              <a:rPr lang="de-DE" dirty="0"/>
              <a:t>, GLPK, </a:t>
            </a:r>
            <a:r>
              <a:rPr lang="de-DE" dirty="0" err="1"/>
              <a:t>iPOPT</a:t>
            </a:r>
            <a:r>
              <a:rPr lang="de-DE" dirty="0"/>
              <a:t>, SHOT, </a:t>
            </a:r>
            <a:r>
              <a:rPr lang="de-DE" dirty="0" err="1"/>
              <a:t>MindtPy</a:t>
            </a:r>
            <a:endParaRPr lang="de-DE" dirty="0"/>
          </a:p>
          <a:p>
            <a:pPr lvl="1"/>
            <a:r>
              <a:rPr lang="de-DE" dirty="0"/>
              <a:t>Genetischer Algorithmus: </a:t>
            </a:r>
            <a:r>
              <a:rPr lang="de-DE" dirty="0" err="1"/>
              <a:t>PyGAD</a:t>
            </a:r>
            <a:endParaRPr lang="de-DE" dirty="0"/>
          </a:p>
        </p:txBody>
      </p:sp>
      <p:pic>
        <p:nvPicPr>
          <p:cNvPr id="24" name="Bildplatzhalter 23" descr="Ein Bild, das Text, Elektronik, Screenshot, Schrift enthält.&#10;&#10;Automatisch generierte Beschreibung">
            <a:extLst>
              <a:ext uri="{FF2B5EF4-FFF2-40B4-BE49-F238E27FC236}">
                <a16:creationId xmlns:a16="http://schemas.microsoft.com/office/drawing/2014/main" id="{C9A1AF3E-C96B-3886-3F6B-AADFC5014C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88" r="8006" b="188"/>
          <a:stretch/>
        </p:blipFill>
        <p:spPr>
          <a:xfrm>
            <a:off x="8197850" y="1404938"/>
            <a:ext cx="3911934" cy="4230687"/>
          </a:xfr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F9D4D8B-F7A7-7A57-6C49-6D3953D64F2A}"/>
              </a:ext>
            </a:extLst>
          </p:cNvPr>
          <p:cNvSpPr txBox="1"/>
          <p:nvPr/>
        </p:nvSpPr>
        <p:spPr>
          <a:xfrm>
            <a:off x="8197850" y="4989294"/>
            <a:ext cx="3911934" cy="646331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r>
              <a:rPr lang="de-DE" dirty="0">
                <a:hlinkClick r:id="rId3"/>
              </a:rPr>
              <a:t>https://gitlab.iaew.rwth-aachen.de/aev/potpourri</a:t>
            </a:r>
            <a:r>
              <a:rPr lang="de-DE" dirty="0"/>
              <a:t> 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A3542ED-336B-53B6-F18E-E3996BB0A540}"/>
              </a:ext>
            </a:extLst>
          </p:cNvPr>
          <p:cNvSpPr/>
          <p:nvPr/>
        </p:nvSpPr>
        <p:spPr>
          <a:xfrm>
            <a:off x="649705" y="2382247"/>
            <a:ext cx="565484" cy="22077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Netzdaten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2DC03F41-2A6F-D94D-FDA6-B07ECAA6E57E}"/>
              </a:ext>
            </a:extLst>
          </p:cNvPr>
          <p:cNvSpPr/>
          <p:nvPr/>
        </p:nvSpPr>
        <p:spPr>
          <a:xfrm>
            <a:off x="1437774" y="2382247"/>
            <a:ext cx="4313321" cy="22077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F801A97-217F-508F-7683-093A5F298A29}"/>
              </a:ext>
            </a:extLst>
          </p:cNvPr>
          <p:cNvSpPr/>
          <p:nvPr/>
        </p:nvSpPr>
        <p:spPr>
          <a:xfrm>
            <a:off x="2027321" y="2460453"/>
            <a:ext cx="2899611" cy="3850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Optimal Power Flow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A5AE7250-178D-1765-6182-28D08CC8E612}"/>
              </a:ext>
            </a:extLst>
          </p:cNvPr>
          <p:cNvSpPr/>
          <p:nvPr/>
        </p:nvSpPr>
        <p:spPr>
          <a:xfrm>
            <a:off x="1522829" y="2924713"/>
            <a:ext cx="1954297" cy="3850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Optimierung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9245F56A-6DDA-F252-A17A-85069EF1880B}"/>
              </a:ext>
            </a:extLst>
          </p:cNvPr>
          <p:cNvSpPr/>
          <p:nvPr/>
        </p:nvSpPr>
        <p:spPr>
          <a:xfrm>
            <a:off x="3699711" y="2924713"/>
            <a:ext cx="1954297" cy="3850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Metaheuristik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48CB52B8-31A7-467E-AB75-AE7D84DE7737}"/>
              </a:ext>
            </a:extLst>
          </p:cNvPr>
          <p:cNvSpPr/>
          <p:nvPr/>
        </p:nvSpPr>
        <p:spPr>
          <a:xfrm>
            <a:off x="1852863" y="3398917"/>
            <a:ext cx="1624263" cy="3850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AC-OPF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06E29C4C-CC02-2D6F-6DFD-353A07B7A2E8}"/>
              </a:ext>
            </a:extLst>
          </p:cNvPr>
          <p:cNvSpPr/>
          <p:nvPr/>
        </p:nvSpPr>
        <p:spPr>
          <a:xfrm>
            <a:off x="1852864" y="3873121"/>
            <a:ext cx="757990" cy="3850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BFM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EFF67B4E-3845-9372-ECEA-B08922A9EAC4}"/>
              </a:ext>
            </a:extLst>
          </p:cNvPr>
          <p:cNvSpPr/>
          <p:nvPr/>
        </p:nvSpPr>
        <p:spPr>
          <a:xfrm>
            <a:off x="2719136" y="3877986"/>
            <a:ext cx="757990" cy="3850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BIM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2651551D-4BEB-E8EA-5D0F-F50DB0494E5B}"/>
              </a:ext>
            </a:extLst>
          </p:cNvPr>
          <p:cNvSpPr/>
          <p:nvPr/>
        </p:nvSpPr>
        <p:spPr>
          <a:xfrm>
            <a:off x="4029745" y="3398917"/>
            <a:ext cx="1624263" cy="3850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Algo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437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5D923-5A66-6F0C-27BB-8823CC28D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Logo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Dall-E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83CD214-ADCE-4389-63EC-E89931ECDE1C}"/>
              </a:ext>
            </a:extLst>
          </p:cNvPr>
          <p:cNvGrpSpPr/>
          <p:nvPr/>
        </p:nvGrpSpPr>
        <p:grpSpPr>
          <a:xfrm>
            <a:off x="1596190" y="1124952"/>
            <a:ext cx="4313321" cy="4313321"/>
            <a:chOff x="3749842" y="1167063"/>
            <a:chExt cx="4313321" cy="4313321"/>
          </a:xfrm>
        </p:grpSpPr>
        <p:pic>
          <p:nvPicPr>
            <p:cNvPr id="4" name="Grafik 3" descr="Ein Bild, das Text, Logo, Emblem, Markenzeichen enthält.&#10;&#10;Automatisch generierte Beschreibung">
              <a:extLst>
                <a:ext uri="{FF2B5EF4-FFF2-40B4-BE49-F238E27FC236}">
                  <a16:creationId xmlns:a16="http://schemas.microsoft.com/office/drawing/2014/main" id="{508B07EA-1283-990F-3EF8-A9F71EAC6A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9842" y="1167063"/>
              <a:ext cx="4313321" cy="4313321"/>
            </a:xfrm>
            <a:prstGeom prst="rect">
              <a:avLst/>
            </a:prstGeom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3935B90E-1294-3A39-416C-281501B2B5EE}"/>
                </a:ext>
              </a:extLst>
            </p:cNvPr>
            <p:cNvSpPr/>
            <p:nvPr/>
          </p:nvSpPr>
          <p:spPr>
            <a:xfrm>
              <a:off x="3961021" y="4695826"/>
              <a:ext cx="3890962" cy="69407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sz="4800" b="1" dirty="0">
                  <a:solidFill>
                    <a:schemeClr val="accent5"/>
                  </a:solidFill>
                </a:rPr>
                <a:t>POTPOURRI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2B0A314-1B30-D1B1-5BBF-DDB12C60A73F}"/>
              </a:ext>
            </a:extLst>
          </p:cNvPr>
          <p:cNvGrpSpPr/>
          <p:nvPr/>
        </p:nvGrpSpPr>
        <p:grpSpPr>
          <a:xfrm>
            <a:off x="6481011" y="3638273"/>
            <a:ext cx="1800000" cy="1800000"/>
            <a:chOff x="3749842" y="1167063"/>
            <a:chExt cx="4313321" cy="4313321"/>
          </a:xfrm>
        </p:grpSpPr>
        <p:pic>
          <p:nvPicPr>
            <p:cNvPr id="8" name="Grafik 7" descr="Ein Bild, das Text, Logo, Emblem, Markenzeichen enthält.&#10;&#10;Automatisch generierte Beschreibung">
              <a:extLst>
                <a:ext uri="{FF2B5EF4-FFF2-40B4-BE49-F238E27FC236}">
                  <a16:creationId xmlns:a16="http://schemas.microsoft.com/office/drawing/2014/main" id="{D6A81673-99BB-3AED-50F8-DE3A120D19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9842" y="1167063"/>
              <a:ext cx="4313321" cy="4313321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60D17F7A-2F1D-1CF7-198C-1E736AE7A0D2}"/>
                </a:ext>
              </a:extLst>
            </p:cNvPr>
            <p:cNvSpPr/>
            <p:nvPr/>
          </p:nvSpPr>
          <p:spPr>
            <a:xfrm>
              <a:off x="3961021" y="4695826"/>
              <a:ext cx="3890962" cy="69407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b="1" dirty="0">
                  <a:solidFill>
                    <a:schemeClr val="accent5"/>
                  </a:solidFill>
                </a:rPr>
                <a:t>POTPOURRI</a:t>
              </a:r>
            </a:p>
          </p:txBody>
        </p: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62E0442B-8FC3-E92D-ADEA-4CA9644E66CB}"/>
              </a:ext>
            </a:extLst>
          </p:cNvPr>
          <p:cNvSpPr txBox="1"/>
          <p:nvPr/>
        </p:nvSpPr>
        <p:spPr>
          <a:xfrm>
            <a:off x="2707105" y="5540542"/>
            <a:ext cx="848227" cy="348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noAutofit/>
          </a:bodyPr>
          <a:lstStyle/>
          <a:p>
            <a:pPr marL="216000" indent="-216000">
              <a:lnSpc>
                <a:spcPct val="113000"/>
              </a:lnSpc>
              <a:spcBef>
                <a:spcPts val="600"/>
              </a:spcBef>
              <a:spcAft>
                <a:spcPts val="5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groß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97328C8-1E8C-4FD0-917D-8A27E6D77163}"/>
              </a:ext>
            </a:extLst>
          </p:cNvPr>
          <p:cNvSpPr txBox="1"/>
          <p:nvPr/>
        </p:nvSpPr>
        <p:spPr>
          <a:xfrm>
            <a:off x="6715626" y="5540542"/>
            <a:ext cx="848227" cy="34891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noAutofit/>
          </a:bodyPr>
          <a:lstStyle/>
          <a:p>
            <a:pPr marL="216000" indent="-216000">
              <a:lnSpc>
                <a:spcPct val="113000"/>
              </a:lnSpc>
              <a:spcBef>
                <a:spcPts val="600"/>
              </a:spcBef>
              <a:spcAft>
                <a:spcPts val="5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de-DE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klein</a:t>
            </a:r>
          </a:p>
        </p:txBody>
      </p:sp>
    </p:spTree>
    <p:extLst>
      <p:ext uri="{BB962C8B-B14F-4D97-AF65-F5344CB8AC3E}">
        <p14:creationId xmlns:p14="http://schemas.microsoft.com/office/powerpoint/2010/main" val="1537882892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welt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CC071E"/>
      </a:accent2>
      <a:accent3>
        <a:srgbClr val="006165"/>
      </a:accent3>
      <a:accent4>
        <a:srgbClr val="0098A1"/>
      </a:accent4>
      <a:accent5>
        <a:srgbClr val="FFC000"/>
      </a:accent5>
      <a:accent6>
        <a:srgbClr val="E30066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19050">
          <a:noFill/>
        </a:ln>
      </a:spPr>
      <a:bodyPr wrap="square" rtlCol="0">
        <a:noAutofit/>
      </a:bodyPr>
      <a:lstStyle>
        <a:defPPr marL="216000" indent="-216000">
          <a:lnSpc>
            <a:spcPct val="113000"/>
          </a:lnSpc>
          <a:spcBef>
            <a:spcPts val="600"/>
          </a:spcBef>
          <a:spcAft>
            <a:spcPts val="500"/>
          </a:spcAft>
          <a:buClr>
            <a:schemeClr val="tx2"/>
          </a:buClr>
          <a:buFont typeface="Wingdings" panose="05000000000000000000" pitchFamily="2" charset="2"/>
          <a:buChar char="§"/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AE98B22-EB69-47EC-AAC0-2E6630A4C446}" vid="{5E4394A1-CC0C-46F8-A30A-08D56DC6B5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2022_04_Präsentation_Vorlage_IAEW_ENG_SK</Template>
  <TotalTime>0</TotalTime>
  <Words>97</Words>
  <Application>Microsoft Office PowerPoint</Application>
  <PresentationFormat>Breitbild</PresentationFormat>
  <Paragraphs>29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Symbol</vt:lpstr>
      <vt:lpstr>Wingdings</vt:lpstr>
      <vt:lpstr>Präsentation_Master_RWTH_Institute_16zu9</vt:lpstr>
      <vt:lpstr>Multi-Period Optimal Power Flow for Distribution Grids with Storage Application (potpourri)</vt:lpstr>
      <vt:lpstr>Toolvorstellung: potpourri</vt:lpstr>
      <vt:lpstr>Logo created by Dall-E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RUEC</dc:title>
  <dc:creator>Steffen Kortmann</dc:creator>
  <cp:lastModifiedBy>Steffen Kortmann</cp:lastModifiedBy>
  <cp:revision>6</cp:revision>
  <dcterms:created xsi:type="dcterms:W3CDTF">2023-11-27T06:59:38Z</dcterms:created>
  <dcterms:modified xsi:type="dcterms:W3CDTF">2023-11-27T07:53:04Z</dcterms:modified>
</cp:coreProperties>
</file>